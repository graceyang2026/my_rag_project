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0"/>
  </p:normalViewPr>
  <p:slideViewPr>
    <p:cSldViewPr snapToGrid="0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AEE31-540E-3443-5E1D-4B73DF00E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E9D107-6469-2F8B-0448-0C2BB5663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9CDB89-F791-3304-E25F-2FF05B00B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F04229-7F75-842C-3CE0-988123D54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1D337-0EBC-4A91-05E9-450C02CF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235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61743-CEF7-CBE2-6670-0481BB73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10C9F-5049-E382-32F7-E1E37342F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87191-5524-E171-D7E4-2A99C510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BEBF5F-14FF-8B1F-732D-EF4B8F97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4452F5-C42E-F2A3-3600-6850327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257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F3631-4A6C-13D1-FFD9-CAABE980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074C19-21C9-BEA7-B55D-A5CFF39C5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07E644-388C-9836-E43A-4949022B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46BF6-989B-04E5-7FB8-82F05029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3B5C9-8658-D689-D5DB-D52A9DF5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782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871ED-6EB4-1CDB-526D-C99F33AA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403977-7FD8-C74A-221F-40AED4D34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86065A-1BB1-47A7-9B1B-71167BF6B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87FB44-9C8B-55D1-BA1B-16DD3173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FDA889-B4C3-3721-B659-78C1454C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B19E9C-BBE8-D95E-AF89-8C9B6258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14D7B-ED6C-7C37-EF88-B1E56AEE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4536F8-253B-FEA1-C16B-CFFA0D34C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48E4A1-7ABC-FB3D-207C-C665F9D0C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3706F3-A592-DCDD-C183-FE3DFBBE6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5E4082-D868-9F39-C0DB-7BFCF1EF1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B83E3A-A451-597C-4CCA-DE15571D9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B974EE-2B38-D612-F7F0-C47B62AB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25E7B2A-7C1B-DFDE-2C7B-C05A7ABD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516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F995F-71F5-7AA7-B860-292F46BC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70A760-C28D-647F-2FF2-6635D37B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65E748-E51E-889F-8D52-15AE9E0E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3A50DB-E0B5-926F-480C-FB68BDB7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143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48F4EE-3A9E-6992-3EFB-44F5A25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108570-C34E-D751-A2EC-DFFA4B64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88ED26-CF78-325F-48E5-41D5A56F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0645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A0A35-17F5-5B85-4263-BCF71265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A20E5-3A6C-F840-C313-FD1B78A18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79D445-5F99-CF7B-94B8-51A9108D7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542BC9-32E1-AFF9-5846-2987AC32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A58C4C-861A-420B-836D-B5ECC69E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9AF723-0F4B-0E0B-0C5D-DF0FEA0B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136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5791C-8EFA-5C8D-E712-6D2DD120F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8BEF4E-F235-79EE-793B-686B38574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BB8D1B-7624-5702-9D52-510F90D8F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FDFCB2-2136-0C8D-918D-2BD6DEFC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14CA46-0DAC-EED0-7014-E1727257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152A30-C82D-7B30-4C38-4FD9ACC8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440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960B2-93E7-B531-5706-46BD9F0F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2FDB22-0C47-970F-1192-B3DE9D7F9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019CD-10C5-5615-67DA-141667F86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90B9C9-CA88-01AF-EC77-7D6E2DE7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B7CED7-64AC-8C60-2058-F6A0FF44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238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343C4A-68CD-6716-EAA4-08E513C7A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4EEEA0-B6C4-3A4D-7A9D-ADA315712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5087AD-898A-278F-E3AA-E6BE491B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A021F-CE00-D3DC-F75A-3AF9A9B9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0BCF9-D00E-33E2-3599-D93BEC35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63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2B78FD-98FF-F066-47EE-BB92A664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BC4CBF-596C-3614-F23D-462783F36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4F6BDB-309D-5922-9747-21D19729C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32CE1-7E25-344D-A7D1-C024ABEFFCFE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CAAAA1-189B-9E6A-554B-D45BB4567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AE053-50C8-89A2-3DBE-2E621E726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4BFE7-A452-D54C-A947-76E4720796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928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DE7AC-0515-93D5-3490-5B66D6C2DC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2026 PIP </a:t>
            </a:r>
            <a:r>
              <a:rPr lang="zh-CN" altLang="en" dirty="0"/>
              <a:t>第一</a:t>
            </a:r>
            <a:r>
              <a:rPr lang="zh-CN" altLang="en-US" dirty="0"/>
              <a:t>周进展报告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487722-81F1-A444-BAEB-6A98DCBF13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zh-CN" dirty="0"/>
              <a:t>RAG </a:t>
            </a:r>
            <a:r>
              <a:rPr lang="zh-CN" altLang="en-US" dirty="0"/>
              <a:t>系统基础环境与解析链路测试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974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9987-BA97-A706-9361-559479BB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E7967-CCE8-77A3-F1E1-E791E05C6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798" y="406400"/>
            <a:ext cx="9144000" cy="2387600"/>
          </a:xfrm>
        </p:spPr>
        <p:txBody>
          <a:bodyPr>
            <a:normAutofit/>
          </a:bodyPr>
          <a:lstStyle/>
          <a:p>
            <a:r>
              <a:rPr lang="en" altLang="zh-CN" sz="4000" dirty="0"/>
              <a:t>2026 PIP </a:t>
            </a:r>
            <a:r>
              <a:rPr lang="zh-CN" altLang="en" sz="4000" dirty="0"/>
              <a:t>第一</a:t>
            </a:r>
            <a:r>
              <a:rPr lang="zh-CN" altLang="en-US" sz="4000" dirty="0"/>
              <a:t>周进展报告</a:t>
            </a:r>
            <a:endParaRPr kumimoji="1"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4F5666-A945-9091-9225-1EC7B71D82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zh-CN" dirty="0"/>
              <a:t>RAG </a:t>
            </a:r>
            <a:r>
              <a:rPr lang="zh-CN" altLang="en-US" dirty="0"/>
              <a:t>系统基础环境与解析链路测试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04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A3D72-60BE-4B4B-B3BC-8DB1E035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16C6F8-55CD-4C66-BDB1-69DDD0E4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了解了</a:t>
            </a:r>
            <a:r>
              <a:rPr kumimoji="1" lang="en-US" altLang="zh-CN" dirty="0"/>
              <a:t>RAG</a:t>
            </a:r>
            <a:r>
              <a:rPr kumimoji="1" lang="zh-CN" altLang="en-US" dirty="0"/>
              <a:t>的基本工作流程</a:t>
            </a:r>
            <a:endParaRPr kumimoji="1" lang="en-US" altLang="zh-CN" dirty="0"/>
          </a:p>
          <a:p>
            <a:r>
              <a:rPr lang="zh-CN" altLang="en-US" dirty="0"/>
              <a:t>用户问题</a:t>
            </a:r>
          </a:p>
          <a:p>
            <a:r>
              <a:rPr lang="zh-CN" altLang="en-US" dirty="0"/>
              <a:t>   ↓</a:t>
            </a:r>
          </a:p>
          <a:p>
            <a:r>
              <a:rPr lang="zh-CN" altLang="en-US" dirty="0"/>
              <a:t>检索相关资料</a:t>
            </a:r>
          </a:p>
          <a:p>
            <a:r>
              <a:rPr lang="zh-CN" altLang="en-US" dirty="0"/>
              <a:t>   ↓</a:t>
            </a:r>
          </a:p>
          <a:p>
            <a:r>
              <a:rPr lang="zh-CN" altLang="en-US" dirty="0"/>
              <a:t>把资料拼接进 </a:t>
            </a:r>
            <a:r>
              <a:rPr lang="en" altLang="zh-CN" dirty="0"/>
              <a:t>Prompt</a:t>
            </a:r>
          </a:p>
          <a:p>
            <a:r>
              <a:rPr lang="en" altLang="zh-CN" dirty="0"/>
              <a:t>   ↓</a:t>
            </a:r>
          </a:p>
          <a:p>
            <a:r>
              <a:rPr lang="en" altLang="zh-CN" dirty="0"/>
              <a:t>LLM </a:t>
            </a:r>
            <a:r>
              <a:rPr lang="zh-CN" altLang="en-US" dirty="0"/>
              <a:t>生成答案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876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75A05-D00B-518D-D7F2-23F0DD95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1DAA6-CC0A-0178-094D-E5BA2F05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当前主流技术</a:t>
            </a:r>
            <a:endParaRPr kumimoji="1" lang="en-US" altLang="zh-CN" dirty="0"/>
          </a:p>
          <a:p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116C76-B456-CCD2-1938-041F67E9827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121184"/>
          <a:ext cx="10515600" cy="17602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624748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350719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effectLst/>
                          <a:latin typeface=".PingFang SC"/>
                        </a:rPr>
                        <a:t>模块</a:t>
                      </a:r>
                      <a:endParaRPr lang="zh-CN" altLang="en-US">
                        <a:effectLst/>
                        <a:latin typeface=".PingFang SC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effectLst/>
                          <a:latin typeface=".PingFang SC"/>
                        </a:rPr>
                        <a:t>技术</a:t>
                      </a:r>
                      <a:endParaRPr lang="zh-CN" altLang="en-US">
                        <a:effectLst/>
                        <a:latin typeface=".PingFang SC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614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LLM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GPT / Claude / Llama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61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Embedding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OpenAI Embedding / BGE—R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453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Vector DB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Pinecone / Milvus / FAISS / Chroma—R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48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Framework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.AppleSystemUIFont"/>
                        </a:rPr>
                        <a:t>LangChain / LlamaIndex—</a:t>
                      </a:r>
                      <a:r>
                        <a:rPr lang="zh-CN" altLang="en-US">
                          <a:effectLst/>
                          <a:latin typeface=".PingFang SC"/>
                        </a:rPr>
                        <a:t>数据集成，增强</a:t>
                      </a:r>
                      <a:endParaRPr lang="zh-CN" altLang="en-US">
                        <a:effectLst/>
                        <a:latin typeface=".AppleSystemUIFont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9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  <a:latin typeface=".PingFang SC"/>
                        </a:rPr>
                        <a:t>数据源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  <a:latin typeface=".AppleSystemUIFont"/>
                        </a:rPr>
                        <a:t>PDF / SQL / API / Notion--</a:t>
                      </a:r>
                      <a:r>
                        <a:rPr lang="zh-CN" altLang="en-US" dirty="0">
                          <a:effectLst/>
                          <a:latin typeface=".PingFang SC"/>
                        </a:rPr>
                        <a:t>知识库</a:t>
                      </a:r>
                      <a:r>
                        <a:rPr lang="en-US" altLang="zh-CN" dirty="0">
                          <a:effectLst/>
                          <a:latin typeface=".AppleSystemUIFont"/>
                        </a:rPr>
                        <a:t>—</a:t>
                      </a:r>
                      <a:r>
                        <a:rPr lang="en" dirty="0">
                          <a:effectLst/>
                          <a:latin typeface=".AppleSystemUIFont"/>
                        </a:rPr>
                        <a:t>R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350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77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153F9B-3327-05E7-68A8-3DF40FCA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D98F8A-B4C8-F158-998A-5F851656CA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142109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Docling (已用)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：负责把 PDF 这种“人类看的格式”转换成“机器好读的 Markdown”。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PyMilvus (待用)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：负责把 Markdown 存进“向量数据库”，方便以后检索。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Replicate (待用)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：它是你连接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LLM（大模型）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的管道。只有当你准备好“问题”和“背景材料”，需要模型给你写出回答时，才需要调用它。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9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D0BE-CD78-EB2D-013C-14FB82CB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9F558-F491-1E21-22F7-A8917EAA9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798" y="406400"/>
            <a:ext cx="9144000" cy="5487624"/>
          </a:xfrm>
        </p:spPr>
        <p:txBody>
          <a:bodyPr>
            <a:normAutofit/>
          </a:bodyPr>
          <a:lstStyle/>
          <a:p>
            <a:pPr marL="571500" indent="-571500" algn="l">
              <a:buFont typeface="+mj-lt"/>
              <a:buAutoNum type="arabicPeriod"/>
            </a:pPr>
            <a:r>
              <a:rPr lang="en-US" altLang="zh-CN" sz="3200" b="1" dirty="0"/>
              <a:t> </a:t>
            </a:r>
            <a:r>
              <a:rPr lang="zh-CN" altLang="en-US" sz="3200" b="1" dirty="0"/>
              <a:t>本周核心任务 </a:t>
            </a:r>
            <a:r>
              <a:rPr lang="en-US" altLang="zh-CN" sz="3200" b="1" dirty="0"/>
              <a:t>(</a:t>
            </a:r>
            <a:r>
              <a:rPr lang="en" altLang="zh-CN" sz="3200" b="1" dirty="0"/>
              <a:t>Weekly Focus)</a:t>
            </a:r>
            <a:br>
              <a:rPr lang="en" altLang="zh-CN" sz="3200" b="1" dirty="0"/>
            </a:br>
            <a:r>
              <a:rPr lang="zh-CN" altLang="en-US" sz="3200" b="1" dirty="0"/>
              <a:t>环境搭建</a:t>
            </a:r>
            <a:r>
              <a:rPr lang="zh-CN" altLang="en-US" sz="3200" dirty="0"/>
              <a:t>：在 </a:t>
            </a:r>
            <a:r>
              <a:rPr lang="en" altLang="zh-CN" sz="3200" dirty="0"/>
              <a:t>M2 Mac </a:t>
            </a:r>
            <a:r>
              <a:rPr lang="zh-CN" altLang="en-US" sz="3200" dirty="0"/>
              <a:t>本地配置 </a:t>
            </a:r>
            <a:r>
              <a:rPr lang="en" altLang="zh-CN" sz="3200" dirty="0"/>
              <a:t>Python 3.14 </a:t>
            </a:r>
            <a:r>
              <a:rPr lang="zh-CN" altLang="en-US" sz="3200" dirty="0"/>
              <a:t>开发环境。</a:t>
            </a:r>
            <a:br>
              <a:rPr lang="zh-CN" altLang="en-US" sz="4000" dirty="0"/>
            </a:br>
            <a:r>
              <a:rPr lang="zh-CN" altLang="en-US" sz="4000" b="1" dirty="0"/>
              <a:t>组件集成</a:t>
            </a:r>
            <a:r>
              <a:rPr lang="zh-CN" altLang="en-US" sz="4000" dirty="0"/>
              <a:t>：安装并调试 </a:t>
            </a:r>
            <a:r>
              <a:rPr lang="en" altLang="zh-CN" sz="4000" dirty="0" err="1"/>
              <a:t>Docling</a:t>
            </a:r>
            <a:r>
              <a:rPr lang="en" altLang="zh-CN" sz="4000" dirty="0"/>
              <a:t> (</a:t>
            </a:r>
            <a:r>
              <a:rPr lang="zh-CN" altLang="en-US" sz="4000" dirty="0"/>
              <a:t>文档解析</a:t>
            </a:r>
            <a:r>
              <a:rPr lang="en-US" altLang="zh-CN" sz="4000" dirty="0"/>
              <a:t>)</a:t>
            </a:r>
            <a:r>
              <a:rPr lang="zh-CN" altLang="en-US" sz="4000" dirty="0"/>
              <a:t>、</a:t>
            </a:r>
            <a:r>
              <a:rPr lang="en" altLang="zh-CN" sz="4000" dirty="0" err="1"/>
              <a:t>PyMilvus</a:t>
            </a:r>
            <a:r>
              <a:rPr lang="en" altLang="zh-CN" sz="4000" dirty="0"/>
              <a:t> (</a:t>
            </a:r>
            <a:r>
              <a:rPr lang="zh-CN" altLang="en-US" sz="4000" dirty="0"/>
              <a:t>向量数据库</a:t>
            </a:r>
            <a:r>
              <a:rPr lang="en-US" altLang="zh-CN" sz="4000" dirty="0"/>
              <a:t>) </a:t>
            </a:r>
            <a:r>
              <a:rPr lang="zh-CN" altLang="en-US" sz="4000" dirty="0"/>
              <a:t>及 </a:t>
            </a:r>
            <a:r>
              <a:rPr lang="en" altLang="zh-CN" sz="4000" dirty="0"/>
              <a:t>Replicate (LLM </a:t>
            </a:r>
            <a:r>
              <a:rPr lang="zh-CN" altLang="en-US" sz="4000" dirty="0"/>
              <a:t>接口</a:t>
            </a:r>
            <a:r>
              <a:rPr lang="en-US" altLang="zh-CN" sz="4000" dirty="0"/>
              <a:t>) </a:t>
            </a:r>
            <a:r>
              <a:rPr lang="zh-CN" altLang="en-US" sz="4000" dirty="0"/>
              <a:t>核心库。</a:t>
            </a:r>
            <a:br>
              <a:rPr lang="zh-CN" altLang="en-US" sz="4000" dirty="0"/>
            </a:br>
            <a:r>
              <a:rPr lang="zh-CN" altLang="en-US" sz="4000" b="1" dirty="0"/>
              <a:t>原型验证</a:t>
            </a:r>
            <a:r>
              <a:rPr lang="zh-CN" altLang="en-US" sz="4000" dirty="0"/>
              <a:t>：编写脚本实现 </a:t>
            </a:r>
            <a:r>
              <a:rPr lang="en" altLang="zh-CN" sz="4000" dirty="0"/>
              <a:t>PDF </a:t>
            </a:r>
            <a:r>
              <a:rPr lang="zh-CN" altLang="en-US" sz="4000" dirty="0"/>
              <a:t>到 </a:t>
            </a:r>
            <a:r>
              <a:rPr lang="en" altLang="zh-CN" sz="4000" dirty="0"/>
              <a:t>Markdown </a:t>
            </a:r>
            <a:r>
              <a:rPr lang="zh-CN" altLang="en-US" sz="4000" dirty="0"/>
              <a:t>的自动化解析。</a:t>
            </a:r>
            <a:br>
              <a:rPr lang="zh-CN" altLang="en-US" sz="4000" dirty="0"/>
            </a:br>
            <a:endParaRPr kumimoji="1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9875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BE01-9552-D0B9-E2C7-695A057B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23A51-41DA-7717-01B9-0D03DC8C8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798" y="406400"/>
            <a:ext cx="9144000" cy="5487624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b="1" dirty="0"/>
              <a:t>2. </a:t>
            </a:r>
            <a:r>
              <a:rPr lang="zh-CN" altLang="en-US" sz="2400" b="1" dirty="0"/>
              <a:t>关键进展 </a:t>
            </a:r>
            <a:r>
              <a:rPr lang="en-US" altLang="zh-CN" sz="2400" b="1" dirty="0"/>
              <a:t>(</a:t>
            </a:r>
            <a:r>
              <a:rPr lang="en" altLang="zh-CN" sz="2400" b="1" dirty="0"/>
              <a:t>Key Progress)</a:t>
            </a:r>
            <a:br>
              <a:rPr lang="en" altLang="zh-CN" sz="2400" b="1" dirty="0"/>
            </a:br>
            <a:r>
              <a:rPr lang="zh-CN" altLang="en-US" sz="2400" b="1" dirty="0"/>
              <a:t>环境基座建设</a:t>
            </a:r>
            <a:r>
              <a:rPr lang="zh-CN" altLang="en-US" sz="2400" dirty="0"/>
              <a:t>：</a:t>
            </a:r>
            <a:br>
              <a:rPr lang="zh-CN" altLang="en-US" sz="2400" dirty="0"/>
            </a:br>
            <a:r>
              <a:rPr lang="zh-CN" altLang="en-US" sz="2400" dirty="0"/>
              <a:t>成功在 </a:t>
            </a:r>
            <a:r>
              <a:rPr lang="en" altLang="zh-CN" sz="2400" dirty="0" err="1"/>
              <a:t>my_rag_project</a:t>
            </a:r>
            <a:r>
              <a:rPr lang="en" altLang="zh-CN" sz="2400" dirty="0"/>
              <a:t> </a:t>
            </a:r>
            <a:r>
              <a:rPr lang="zh-CN" altLang="en-US" sz="2400" dirty="0"/>
              <a:t>建立独立虚拟环境。</a:t>
            </a:r>
            <a:br>
              <a:rPr lang="zh-CN" altLang="en-US" sz="2400" dirty="0"/>
            </a:br>
            <a:r>
              <a:rPr lang="zh-CN" altLang="en-US" sz="2400" dirty="0"/>
              <a:t>解决了 </a:t>
            </a:r>
            <a:r>
              <a:rPr lang="en" altLang="zh-CN" sz="2400" dirty="0"/>
              <a:t>Python 3.14 </a:t>
            </a:r>
            <a:r>
              <a:rPr lang="zh-CN" altLang="en-US" sz="2400" dirty="0"/>
              <a:t>环境下多版本共存的路径指向问题，确保 </a:t>
            </a:r>
            <a:r>
              <a:rPr lang="en" altLang="zh-CN" sz="2400" dirty="0"/>
              <a:t>pip </a:t>
            </a:r>
            <a:r>
              <a:rPr lang="zh-CN" altLang="en-US" sz="2400" dirty="0"/>
              <a:t>依赖安装在 </a:t>
            </a:r>
            <a:r>
              <a:rPr lang="en-US" altLang="zh-CN" sz="2400" dirty="0"/>
              <a:t>.</a:t>
            </a:r>
            <a:r>
              <a:rPr lang="en" altLang="zh-CN" sz="2400" dirty="0" err="1"/>
              <a:t>venv</a:t>
            </a:r>
            <a:r>
              <a:rPr lang="en" altLang="zh-CN" sz="2400" dirty="0"/>
              <a:t> </a:t>
            </a:r>
            <a:r>
              <a:rPr lang="zh-CN" altLang="en-US" sz="2400" dirty="0"/>
              <a:t>隔离空间内。</a:t>
            </a:r>
            <a:br>
              <a:rPr lang="zh-CN" altLang="en-US" sz="2400" dirty="0"/>
            </a:br>
            <a:r>
              <a:rPr lang="zh-CN" altLang="en-US" sz="2400" b="1" dirty="0"/>
              <a:t>解析引擎跑通 </a:t>
            </a:r>
            <a:r>
              <a:rPr lang="en-US" altLang="zh-CN" sz="2400" b="1" dirty="0"/>
              <a:t>(</a:t>
            </a:r>
            <a:r>
              <a:rPr lang="en" altLang="zh-CN" sz="2400" b="1" dirty="0" err="1"/>
              <a:t>Docling</a:t>
            </a:r>
            <a:r>
              <a:rPr lang="en" altLang="zh-CN" sz="2400" b="1" dirty="0"/>
              <a:t> Practice)</a:t>
            </a:r>
            <a:r>
              <a:rPr lang="zh-CN" altLang="en" sz="2400" dirty="0"/>
              <a:t>：</a:t>
            </a:r>
            <a:br>
              <a:rPr lang="zh-CN" altLang="en" sz="2400" dirty="0"/>
            </a:br>
            <a:r>
              <a:rPr lang="zh-CN" altLang="en-US" sz="2400" b="1" dirty="0"/>
              <a:t>脚本实现</a:t>
            </a:r>
            <a:r>
              <a:rPr lang="zh-CN" altLang="en-US" sz="2400" dirty="0"/>
              <a:t>：编写了 </a:t>
            </a:r>
            <a:r>
              <a:rPr lang="en" altLang="zh-CN" sz="2400" dirty="0" err="1"/>
              <a:t>parse_pdf.py</a:t>
            </a:r>
            <a:r>
              <a:rPr lang="zh-CN" altLang="en" sz="2400" dirty="0"/>
              <a:t>，</a:t>
            </a:r>
            <a:r>
              <a:rPr lang="zh-CN" altLang="en-US" sz="2400" dirty="0"/>
              <a:t>利用 </a:t>
            </a:r>
            <a:r>
              <a:rPr lang="en" altLang="zh-CN" sz="2400" dirty="0" err="1"/>
              <a:t>Docling</a:t>
            </a:r>
            <a:r>
              <a:rPr lang="en" altLang="zh-CN" sz="2400" dirty="0"/>
              <a:t> </a:t>
            </a:r>
            <a:r>
              <a:rPr lang="zh-CN" altLang="en-US" sz="2400" dirty="0"/>
              <a:t>引擎对 </a:t>
            </a:r>
            <a:r>
              <a:rPr lang="en" altLang="zh-CN" sz="2400" dirty="0"/>
              <a:t>data/ </a:t>
            </a:r>
            <a:r>
              <a:rPr lang="zh-CN" altLang="en-US" sz="2400" dirty="0"/>
              <a:t>目录下的样本 </a:t>
            </a:r>
            <a:r>
              <a:rPr lang="en" altLang="zh-CN" sz="2400" dirty="0"/>
              <a:t>PDF </a:t>
            </a:r>
            <a:r>
              <a:rPr lang="zh-CN" altLang="en-US" sz="2400" dirty="0"/>
              <a:t>执行了深度解析。</a:t>
            </a:r>
            <a:br>
              <a:rPr lang="zh-CN" altLang="en-US" sz="2400" dirty="0"/>
            </a:br>
            <a:r>
              <a:rPr lang="zh-CN" altLang="en-US" sz="2400" b="1" dirty="0"/>
              <a:t>核心突破</a:t>
            </a:r>
            <a:r>
              <a:rPr lang="zh-CN" altLang="en-US" sz="2400" dirty="0"/>
              <a:t>：验证了解析引擎在 </a:t>
            </a:r>
            <a:r>
              <a:rPr lang="en" altLang="zh-CN" sz="2400" dirty="0"/>
              <a:t>M2 </a:t>
            </a:r>
            <a:r>
              <a:rPr lang="zh-CN" altLang="en-US" sz="2400" dirty="0"/>
              <a:t>芯片上的运行可行性，并成功输出了结构化的 </a:t>
            </a:r>
            <a:r>
              <a:rPr lang="en" altLang="zh-CN" sz="2400" dirty="0"/>
              <a:t>Markdown </a:t>
            </a:r>
            <a:r>
              <a:rPr lang="zh-CN" altLang="en-US" sz="2400" dirty="0"/>
              <a:t>文件。这证明了系统能够将非结构化的供应商文档（</a:t>
            </a:r>
            <a:r>
              <a:rPr lang="en" altLang="zh-CN" sz="2400" dirty="0"/>
              <a:t>PDF</a:t>
            </a:r>
            <a:r>
              <a:rPr lang="zh-CN" altLang="en" sz="2400" dirty="0"/>
              <a:t>）</a:t>
            </a:r>
            <a:r>
              <a:rPr lang="zh-CN" altLang="en-US" sz="2400" dirty="0"/>
              <a:t>转化为可供 </a:t>
            </a:r>
            <a:r>
              <a:rPr lang="en" altLang="zh-CN" sz="2400" dirty="0"/>
              <a:t>RAG </a:t>
            </a:r>
            <a:r>
              <a:rPr lang="zh-CN" altLang="en-US" sz="2400" dirty="0"/>
              <a:t>检索的结构化数据。</a:t>
            </a:r>
            <a:br>
              <a:rPr lang="zh-CN" altLang="en-US" sz="2400" dirty="0"/>
            </a:br>
            <a:r>
              <a:rPr lang="zh-CN" altLang="en-US" sz="2400" b="1" dirty="0"/>
              <a:t>依赖合规化</a:t>
            </a:r>
            <a:r>
              <a:rPr lang="zh-CN" altLang="en-US" sz="2400" dirty="0"/>
              <a:t>：</a:t>
            </a:r>
            <a:br>
              <a:rPr lang="zh-CN" altLang="en-US" sz="2400" dirty="0"/>
            </a:br>
            <a:r>
              <a:rPr lang="zh-CN" altLang="en-US" sz="2400" dirty="0"/>
              <a:t>整理并输出了 </a:t>
            </a:r>
            <a:r>
              <a:rPr lang="en" altLang="zh-CN" sz="2400" dirty="0" err="1"/>
              <a:t>requirements.txt</a:t>
            </a:r>
            <a:r>
              <a:rPr lang="zh-CN" altLang="en" sz="2400" dirty="0"/>
              <a:t>，</a:t>
            </a:r>
            <a:r>
              <a:rPr lang="zh-CN" altLang="en-US" sz="2400" dirty="0"/>
              <a:t>将本周安装的 </a:t>
            </a:r>
            <a:r>
              <a:rPr lang="en" altLang="zh-CN" sz="2400" dirty="0" err="1"/>
              <a:t>docling</a:t>
            </a:r>
            <a:r>
              <a:rPr lang="zh-CN" altLang="en" sz="2400" dirty="0"/>
              <a:t>、</a:t>
            </a:r>
            <a:r>
              <a:rPr lang="en" altLang="zh-CN" sz="2400" dirty="0" err="1"/>
              <a:t>pymilvus</a:t>
            </a:r>
            <a:r>
              <a:rPr lang="zh-CN" altLang="en" sz="2400" dirty="0"/>
              <a:t>、</a:t>
            </a:r>
            <a:r>
              <a:rPr lang="en" altLang="zh-CN" sz="2400" dirty="0"/>
              <a:t>replicate </a:t>
            </a:r>
            <a:r>
              <a:rPr lang="zh-CN" altLang="en-US" sz="2400" dirty="0"/>
              <a:t>等核心依赖锁死版本，确保了后续部署的可复现性。</a:t>
            </a:r>
          </a:p>
        </p:txBody>
      </p:sp>
    </p:spTree>
    <p:extLst>
      <p:ext uri="{BB962C8B-B14F-4D97-AF65-F5344CB8AC3E}">
        <p14:creationId xmlns:p14="http://schemas.microsoft.com/office/powerpoint/2010/main" val="208791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C08E-6032-4B54-F9EE-299EA38E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2F34C-4B72-5C1E-E371-20EED3E01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798" y="406400"/>
            <a:ext cx="9144000" cy="5487624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b="1" dirty="0"/>
              <a:t>3. </a:t>
            </a:r>
            <a:r>
              <a:rPr lang="zh-CN" altLang="en-US" sz="2400" b="1" dirty="0"/>
              <a:t>阶段性交付物 </a:t>
            </a:r>
            <a:r>
              <a:rPr lang="en-US" altLang="zh-CN" sz="2400" b="1" dirty="0"/>
              <a:t>(</a:t>
            </a:r>
            <a:r>
              <a:rPr lang="en" altLang="zh-CN" sz="2400" b="1" dirty="0"/>
              <a:t>Current Deliverables)</a:t>
            </a:r>
            <a:br>
              <a:rPr lang="en" altLang="zh-CN" sz="2400" b="1" dirty="0"/>
            </a:br>
            <a:r>
              <a:rPr lang="zh-CN" altLang="en-US" sz="2400" b="1" dirty="0"/>
              <a:t>运行环境</a:t>
            </a:r>
            <a:r>
              <a:rPr lang="zh-CN" altLang="en-US" sz="2400" dirty="0"/>
              <a:t>：一套配置完整的 </a:t>
            </a:r>
            <a:r>
              <a:rPr lang="en" altLang="zh-CN" sz="2400" dirty="0"/>
              <a:t>Python 3.11/3.14 </a:t>
            </a:r>
            <a:r>
              <a:rPr lang="zh-CN" altLang="en-US" sz="2400" dirty="0"/>
              <a:t>混合开发环境及对应的 </a:t>
            </a:r>
            <a:r>
              <a:rPr lang="en-US" altLang="zh-CN" dirty="0"/>
              <a:t>.</a:t>
            </a:r>
            <a:r>
              <a:rPr lang="en" altLang="zh-CN" dirty="0" err="1"/>
              <a:t>venv</a:t>
            </a:r>
            <a:r>
              <a:rPr lang="zh-CN" altLang="en" sz="2400" dirty="0"/>
              <a:t>。</a:t>
            </a:r>
            <a:br>
              <a:rPr lang="zh-CN" altLang="en" sz="2400" dirty="0"/>
            </a:br>
            <a:r>
              <a:rPr lang="zh-CN" altLang="en-US" sz="2400" b="1" dirty="0"/>
              <a:t>验证脚本</a:t>
            </a:r>
            <a:r>
              <a:rPr lang="zh-CN" altLang="en-US" sz="2400" dirty="0"/>
              <a:t>：</a:t>
            </a:r>
            <a:r>
              <a:rPr lang="en" altLang="zh-CN" dirty="0" err="1"/>
              <a:t>parse_pdf.py</a:t>
            </a:r>
            <a:r>
              <a:rPr lang="zh-CN" altLang="en" sz="2400" dirty="0"/>
              <a:t>（</a:t>
            </a:r>
            <a:r>
              <a:rPr lang="zh-CN" altLang="en-US" sz="2400" dirty="0"/>
              <a:t>已通过本地测试）。</a:t>
            </a:r>
            <a:br>
              <a:rPr lang="zh-CN" altLang="en-US" sz="2400" dirty="0"/>
            </a:br>
            <a:r>
              <a:rPr lang="zh-CN" altLang="en-US" sz="2400" b="1" dirty="0"/>
              <a:t>解析产物</a:t>
            </a:r>
            <a:r>
              <a:rPr lang="zh-CN" altLang="en-US" sz="2400" dirty="0"/>
              <a:t>：生成的 </a:t>
            </a:r>
            <a:r>
              <a:rPr lang="en" altLang="zh-CN" dirty="0"/>
              <a:t>output/</a:t>
            </a:r>
            <a:r>
              <a:rPr lang="en" altLang="zh-CN" dirty="0" err="1"/>
              <a:t>parsed_result.md</a:t>
            </a:r>
            <a:r>
              <a:rPr lang="zh-CN" altLang="en" sz="2400" dirty="0"/>
              <a:t>（</a:t>
            </a:r>
            <a:r>
              <a:rPr lang="zh-CN" altLang="en-US" sz="2400" dirty="0"/>
              <a:t>作为后续知识库的原始素材）。</a:t>
            </a:r>
            <a:br>
              <a:rPr lang="zh-CN" altLang="en-US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3805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B2FF-74A9-E2A8-6A1E-8AA41718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10B8E-B151-52A0-E61F-596E38AD8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798" y="406400"/>
            <a:ext cx="9144000" cy="5487624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dirty="0"/>
              <a:t>这周最核心的工作是</a:t>
            </a:r>
            <a:r>
              <a:rPr lang="zh-CN" altLang="en-US" sz="2400" b="1" dirty="0"/>
              <a:t>打通了数据摄入（</a:t>
            </a:r>
            <a:r>
              <a:rPr lang="en" altLang="zh-CN" sz="2400" b="1" dirty="0"/>
              <a:t>Data Ingestion</a:t>
            </a:r>
            <a:r>
              <a:rPr lang="zh-CN" altLang="en" sz="2400" b="1" dirty="0"/>
              <a:t>）</a:t>
            </a:r>
            <a:r>
              <a:rPr lang="zh-CN" altLang="en-US" sz="2400" b="1" dirty="0"/>
              <a:t>的第一个关口</a:t>
            </a:r>
            <a:r>
              <a:rPr lang="zh-CN" altLang="en-US" sz="2400" dirty="0"/>
              <a:t>。在 </a:t>
            </a:r>
            <a:r>
              <a:rPr lang="en" altLang="zh-CN" sz="2400" dirty="0"/>
              <a:t>M2 </a:t>
            </a:r>
            <a:r>
              <a:rPr lang="zh-CN" altLang="en-US" sz="2400" dirty="0"/>
              <a:t>这种特定硬件环境下，环境配置和解析引擎的稳定性是 </a:t>
            </a:r>
            <a:r>
              <a:rPr lang="en" altLang="zh-CN" sz="2400" dirty="0"/>
              <a:t>RAG </a:t>
            </a:r>
            <a:r>
              <a:rPr lang="zh-CN" altLang="en-US" sz="2400" dirty="0"/>
              <a:t>系统的生死线。目前我已经确保了 </a:t>
            </a:r>
            <a:r>
              <a:rPr lang="en" altLang="zh-CN" sz="2400" dirty="0"/>
              <a:t>PDF </a:t>
            </a:r>
            <a:r>
              <a:rPr lang="zh-CN" altLang="en-US" sz="2400" dirty="0"/>
              <a:t>数据能 </a:t>
            </a:r>
            <a:r>
              <a:rPr lang="en-US" altLang="zh-CN" sz="2400" dirty="0"/>
              <a:t>100% </a:t>
            </a:r>
            <a:r>
              <a:rPr lang="zh-CN" altLang="en-US" sz="2400" dirty="0"/>
              <a:t>准确地转化为机器可读的 </a:t>
            </a:r>
            <a:r>
              <a:rPr lang="en" altLang="zh-CN" sz="2400" dirty="0"/>
              <a:t>Markdown </a:t>
            </a:r>
            <a:r>
              <a:rPr lang="zh-CN" altLang="en-US" sz="2400" dirty="0"/>
              <a:t>格式，这为下周的向量化存储（</a:t>
            </a:r>
            <a:r>
              <a:rPr lang="en" altLang="zh-CN" sz="2400" dirty="0"/>
              <a:t>Milvus</a:t>
            </a:r>
            <a:r>
              <a:rPr lang="zh-CN" altLang="en" sz="2400" dirty="0"/>
              <a:t>）</a:t>
            </a:r>
            <a:r>
              <a:rPr lang="zh-CN" altLang="en-US" sz="2400" dirty="0"/>
              <a:t>和 </a:t>
            </a:r>
            <a:r>
              <a:rPr lang="en" altLang="zh-CN" sz="2400" dirty="0"/>
              <a:t>LLM </a:t>
            </a:r>
            <a:r>
              <a:rPr lang="zh-CN" altLang="en-US" sz="2400" dirty="0"/>
              <a:t>检索（</a:t>
            </a:r>
            <a:r>
              <a:rPr lang="en" altLang="zh-CN" sz="2400" dirty="0"/>
              <a:t>Replicate</a:t>
            </a:r>
            <a:r>
              <a:rPr lang="zh-CN" altLang="en" sz="2400" dirty="0"/>
              <a:t>）</a:t>
            </a:r>
            <a:r>
              <a:rPr lang="zh-CN" altLang="en-US" sz="2400" dirty="0"/>
              <a:t>扫清了所有底层技术障碍。”</a:t>
            </a:r>
            <a:br>
              <a:rPr lang="zh-CN" altLang="en-US" sz="2400" dirty="0"/>
            </a:b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9553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598</Words>
  <Application>Microsoft Macintosh PowerPoint</Application>
  <PresentationFormat>宽屏</PresentationFormat>
  <Paragraphs>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.AppleSystemUIFont</vt:lpstr>
      <vt:lpstr>.PingFang SC</vt:lpstr>
      <vt:lpstr>等线</vt:lpstr>
      <vt:lpstr>等线 Light</vt:lpstr>
      <vt:lpstr>Arial</vt:lpstr>
      <vt:lpstr>Office 主题​​</vt:lpstr>
      <vt:lpstr>2026 PIP 第一周进展报告</vt:lpstr>
      <vt:lpstr>2026 PIP 第一周进展报告</vt:lpstr>
      <vt:lpstr>PowerPoint 演示文稿</vt:lpstr>
      <vt:lpstr>PowerPoint 演示文稿</vt:lpstr>
      <vt:lpstr>PowerPoint 演示文稿</vt:lpstr>
      <vt:lpstr> 本周核心任务 (Weekly Focus) 环境搭建：在 M2 Mac 本地配置 Python 3.14 开发环境。 组件集成：安装并调试 Docling (文档解析)、PyMilvus (向量数据库) 及 Replicate (LLM 接口) 核心库。 原型验证：编写脚本实现 PDF 到 Markdown 的自动化解析。 </vt:lpstr>
      <vt:lpstr>2. 关键进展 (Key Progress) 环境基座建设： 成功在 my_rag_project 建立独立虚拟环境。 解决了 Python 3.14 环境下多版本共存的路径指向问题，确保 pip 依赖安装在 .venv 隔离空间内。 解析引擎跑通 (Docling Practice)： 脚本实现：编写了 parse_pdf.py，利用 Docling 引擎对 data/ 目录下的样本 PDF 执行了深度解析。 核心突破：验证了解析引擎在 M2 芯片上的运行可行性，并成功输出了结构化的 Markdown 文件。这证明了系统能够将非结构化的供应商文档（PDF）转化为可供 RAG 检索的结构化数据。 依赖合规化： 整理并输出了 requirements.txt，将本周安装的 docling、pymilvus、replicate 等核心依赖锁死版本，确保了后续部署的可复现性。</vt:lpstr>
      <vt:lpstr>3. 阶段性交付物 (Current Deliverables) 运行环境：一套配置完整的 Python 3.11/3.14 混合开发环境及对应的 .venv。 验证脚本：parse_pdf.py（已通过本地测试）。 解析产物：生成的 output/parsed_result.md（作为后续知识库的原始素材）。 </vt:lpstr>
      <vt:lpstr>这周最核心的工作是打通了数据摄入（Data Ingestion）的第一个关口。在 M2 这种特定硬件环境下，环境配置和解析引擎的稳定性是 RAG 系统的生死线。目前我已经确保了 PDF 数据能 100% 准确地转化为机器可读的 Markdown 格式，这为下周的向量化存储（Milvus）和 LLM 检索（Replicate）扫清了所有底层技术障碍。”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Yang</dc:creator>
  <cp:lastModifiedBy>Wei Yang</cp:lastModifiedBy>
  <cp:revision>7</cp:revision>
  <dcterms:created xsi:type="dcterms:W3CDTF">2026-05-07T08:37:48Z</dcterms:created>
  <dcterms:modified xsi:type="dcterms:W3CDTF">2026-05-07T08:56:53Z</dcterms:modified>
</cp:coreProperties>
</file>